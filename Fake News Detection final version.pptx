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75" r:id="rId7"/>
    <p:sldId id="266" r:id="rId8"/>
    <p:sldId id="260" r:id="rId9"/>
    <p:sldId id="273" r:id="rId10"/>
    <p:sldId id="272" r:id="rId11"/>
    <p:sldId id="271" r:id="rId12"/>
    <p:sldId id="262" r:id="rId13"/>
    <p:sldId id="265" r:id="rId14"/>
    <p:sldId id="274" r:id="rId15"/>
    <p:sldId id="267" r:id="rId16"/>
    <p:sldId id="268" r:id="rId17"/>
    <p:sldId id="276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4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6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9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3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6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8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6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6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1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703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9964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86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92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1AE51-0CBD-4242-B4E3-DD985E25D568}" type="datetimeFigureOut">
              <a:rPr lang="en-US" smtClean="0"/>
              <a:pPr/>
              <a:t>11/14/2017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B38BEA-ED38-4CD1-BB2D-E2AF292923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7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36991"/>
            <a:ext cx="12192000" cy="1646302"/>
          </a:xfrm>
        </p:spPr>
        <p:txBody>
          <a:bodyPr/>
          <a:lstStyle/>
          <a:p>
            <a:pPr algn="ctr"/>
            <a:r>
              <a:rPr lang="en-US" dirty="0" smtClean="0"/>
              <a:t>Fake News Detection</a:t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6803" y="3018864"/>
            <a:ext cx="8433767" cy="3604005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/>
              <a:t>Under the Guidance of </a:t>
            </a:r>
          </a:p>
          <a:p>
            <a:pPr algn="ctr"/>
            <a:r>
              <a:rPr lang="en-US" sz="2400" dirty="0" smtClean="0"/>
              <a:t>Prof </a:t>
            </a:r>
            <a:r>
              <a:rPr lang="en-US" sz="2400" dirty="0" err="1" smtClean="0"/>
              <a:t>Dr</a:t>
            </a:r>
            <a:r>
              <a:rPr lang="en-US" sz="2400" dirty="0" smtClean="0"/>
              <a:t> P </a:t>
            </a:r>
            <a:r>
              <a:rPr lang="en-US" sz="2400" dirty="0" err="1" smtClean="0"/>
              <a:t>Venkata</a:t>
            </a:r>
            <a:r>
              <a:rPr lang="en-US" sz="2400" dirty="0" smtClean="0"/>
              <a:t> </a:t>
            </a:r>
            <a:r>
              <a:rPr lang="en-US" sz="2400" dirty="0" err="1" smtClean="0"/>
              <a:t>Subba</a:t>
            </a:r>
            <a:r>
              <a:rPr lang="en-US" sz="2400" dirty="0" smtClean="0"/>
              <a:t> Reddy sir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 By </a:t>
            </a:r>
          </a:p>
          <a:p>
            <a:pPr algn="ctr"/>
            <a:r>
              <a:rPr lang="en-US" sz="2400" dirty="0" smtClean="0"/>
              <a:t>R Naveen Kumar (11406050)</a:t>
            </a:r>
          </a:p>
          <a:p>
            <a:pPr algn="ctr"/>
            <a:r>
              <a:rPr lang="en-US" sz="2400" dirty="0" smtClean="0"/>
              <a:t>V Lakshmi </a:t>
            </a:r>
            <a:r>
              <a:rPr lang="en-US" sz="2400" dirty="0" err="1" smtClean="0"/>
              <a:t>Poojitha</a:t>
            </a:r>
            <a:r>
              <a:rPr lang="en-US" sz="2400" dirty="0" smtClean="0"/>
              <a:t>(11406057)</a:t>
            </a:r>
          </a:p>
          <a:p>
            <a:pPr algn="ctr"/>
            <a:r>
              <a:rPr lang="en-US" sz="2400" dirty="0" smtClean="0"/>
              <a:t>R Irfan(11406065)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567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260" y="1416006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Problem Definition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Existing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Proposed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System design</a:t>
            </a:r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F</a:t>
            </a:r>
            <a:r>
              <a:rPr lang="en-US" dirty="0" smtClean="0"/>
              <a:t>low Chart</a:t>
            </a:r>
          </a:p>
          <a:p>
            <a:pPr marL="0" indent="0">
              <a:buNone/>
            </a:pPr>
            <a:r>
              <a:rPr lang="en-US" dirty="0" smtClean="0"/>
              <a:t>      -</a:t>
            </a:r>
            <a:r>
              <a:rPr lang="en-US" dirty="0"/>
              <a:t> </a:t>
            </a:r>
            <a:r>
              <a:rPr lang="en-US" dirty="0" smtClean="0"/>
              <a:t> Class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Hardware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Software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References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956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extensive spread of </a:t>
            </a:r>
            <a:r>
              <a:rPr lang="en-US" sz="2000" dirty="0" smtClean="0"/>
              <a:t>fake news </a:t>
            </a:r>
            <a:r>
              <a:rPr lang="en-US" sz="2000" dirty="0"/>
              <a:t>has the potential for extremely negative impacts </a:t>
            </a:r>
            <a:r>
              <a:rPr lang="en-US" sz="2000" dirty="0" smtClean="0"/>
              <a:t>on individuals </a:t>
            </a:r>
            <a:r>
              <a:rPr lang="en-US" sz="2000" dirty="0"/>
              <a:t>and </a:t>
            </a:r>
            <a:r>
              <a:rPr lang="en-US" sz="2000" dirty="0" smtClean="0"/>
              <a:t>society.</a:t>
            </a:r>
          </a:p>
          <a:p>
            <a:r>
              <a:rPr lang="en-US" sz="2000" dirty="0" smtClean="0"/>
              <a:t>Fake news </a:t>
            </a:r>
            <a:r>
              <a:rPr lang="en-US" sz="2000" dirty="0"/>
              <a:t>is intentionally written to mislead readers to </a:t>
            </a:r>
            <a:r>
              <a:rPr lang="en-US" sz="2000" dirty="0" smtClean="0"/>
              <a:t>believe false </a:t>
            </a:r>
            <a:r>
              <a:rPr lang="en-US" sz="2000" dirty="0"/>
              <a:t>information, which makes it </a:t>
            </a:r>
            <a:r>
              <a:rPr lang="en-US" sz="2000" dirty="0" smtClean="0"/>
              <a:t>difficult </a:t>
            </a:r>
            <a:r>
              <a:rPr lang="en-US" sz="2000" dirty="0"/>
              <a:t>and nontrivial </a:t>
            </a:r>
            <a:r>
              <a:rPr lang="en-US" sz="2000" dirty="0" smtClean="0"/>
              <a:t>to detect </a:t>
            </a:r>
            <a:r>
              <a:rPr lang="en-US" sz="2000" dirty="0"/>
              <a:t>based on news </a:t>
            </a:r>
            <a:r>
              <a:rPr lang="en-US" sz="2000" dirty="0" smtClean="0"/>
              <a:t>content</a:t>
            </a:r>
          </a:p>
          <a:p>
            <a:r>
              <a:rPr lang="en-US" sz="2000" dirty="0"/>
              <a:t>F</a:t>
            </a:r>
            <a:r>
              <a:rPr lang="en-US" sz="2000" dirty="0" smtClean="0"/>
              <a:t>ake </a:t>
            </a:r>
            <a:r>
              <a:rPr lang="en-US" sz="2000" dirty="0"/>
              <a:t>news detection </a:t>
            </a:r>
            <a:r>
              <a:rPr lang="en-US" sz="2000" dirty="0" smtClean="0"/>
              <a:t>on social </a:t>
            </a:r>
            <a:r>
              <a:rPr lang="en-US" sz="2000" dirty="0"/>
              <a:t>media has recently become an emerging research </a:t>
            </a:r>
            <a:r>
              <a:rPr lang="en-US" sz="2000" dirty="0" smtClean="0"/>
              <a:t>that is </a:t>
            </a:r>
            <a:r>
              <a:rPr lang="en-US" sz="2000" dirty="0"/>
              <a:t>attracting tremendous </a:t>
            </a:r>
            <a:r>
              <a:rPr lang="en-US" sz="2000" dirty="0" smtClean="0"/>
              <a:t>attention.</a:t>
            </a:r>
          </a:p>
          <a:p>
            <a:r>
              <a:rPr lang="en-US" sz="2000" dirty="0" smtClean="0"/>
              <a:t>We propose a system which uses big data analytics on fake news datasets to detect fake news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849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Social media for news consumption is a double-edged sword.</a:t>
            </a:r>
          </a:p>
          <a:p>
            <a:r>
              <a:rPr lang="en-US" sz="2000" dirty="0"/>
              <a:t>E</a:t>
            </a:r>
            <a:r>
              <a:rPr lang="en-US" sz="2000" dirty="0" smtClean="0"/>
              <a:t>asy access of </a:t>
            </a:r>
            <a:r>
              <a:rPr lang="en-US" sz="2000" dirty="0"/>
              <a:t>information lead people to seek out </a:t>
            </a:r>
            <a:r>
              <a:rPr lang="en-US" sz="2000" dirty="0" smtClean="0"/>
              <a:t>and consume news </a:t>
            </a:r>
            <a:r>
              <a:rPr lang="en-US" sz="2000" dirty="0"/>
              <a:t>from social media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On the other hand, it enables </a:t>
            </a:r>
            <a:r>
              <a:rPr lang="en-US" sz="2000" dirty="0" smtClean="0"/>
              <a:t>the wide </a:t>
            </a:r>
            <a:r>
              <a:rPr lang="en-US" sz="2000" dirty="0"/>
              <a:t>spread of </a:t>
            </a:r>
            <a:r>
              <a:rPr lang="en-US" sz="2000" dirty="0" smtClean="0"/>
              <a:t>fake news</a:t>
            </a:r>
            <a:endParaRPr lang="en-US" sz="2000" dirty="0"/>
          </a:p>
          <a:p>
            <a:r>
              <a:rPr lang="en-US" sz="2000" dirty="0"/>
              <a:t>fake news </a:t>
            </a:r>
            <a:r>
              <a:rPr lang="en-US" sz="2000" dirty="0" smtClean="0"/>
              <a:t>can break </a:t>
            </a:r>
            <a:r>
              <a:rPr lang="en-US" sz="2000" dirty="0"/>
              <a:t>the authenticity balance of the news ecosystem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To help mitigate the negative </a:t>
            </a:r>
            <a:r>
              <a:rPr lang="en-US" sz="2000" dirty="0" smtClean="0"/>
              <a:t>effects caused </a:t>
            </a:r>
            <a:r>
              <a:rPr lang="en-US" sz="2000" dirty="0"/>
              <a:t>by fake </a:t>
            </a:r>
            <a:r>
              <a:rPr lang="en-US" sz="2000" dirty="0" smtClean="0"/>
              <a:t>news we need to </a:t>
            </a:r>
            <a:r>
              <a:rPr lang="en-US" sz="2000" dirty="0"/>
              <a:t>develop methods </a:t>
            </a:r>
            <a:r>
              <a:rPr lang="en-US" sz="2000" dirty="0" smtClean="0"/>
              <a:t>that automatically </a:t>
            </a:r>
            <a:r>
              <a:rPr lang="en-US" sz="2000" dirty="0"/>
              <a:t>detect fake news on social media.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615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59" y="1930400"/>
            <a:ext cx="6900332" cy="3207385"/>
          </a:xfrm>
        </p:spPr>
      </p:pic>
      <p:sp>
        <p:nvSpPr>
          <p:cNvPr id="6" name="TextBox 5"/>
          <p:cNvSpPr txBox="1"/>
          <p:nvPr/>
        </p:nvSpPr>
        <p:spPr>
          <a:xfrm>
            <a:off x="3278778" y="5408023"/>
            <a:ext cx="346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Popular rumor in recent times, </a:t>
            </a:r>
            <a:r>
              <a:rPr lang="en-US" sz="2000" dirty="0" err="1" smtClean="0"/>
              <a:t>Rs</a:t>
            </a:r>
            <a:r>
              <a:rPr lang="en-US" sz="2000" dirty="0" smtClean="0"/>
              <a:t> 2000 note with Tracker chip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05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Existing System: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Most of the existing system analytics are based on words of the article.</a:t>
            </a:r>
          </a:p>
          <a:p>
            <a:endParaRPr lang="en-IN" sz="2000" dirty="0" smtClean="0"/>
          </a:p>
          <a:p>
            <a:r>
              <a:rPr lang="en-IN" sz="2000" dirty="0" smtClean="0"/>
              <a:t>Few of them are completely based on keyword matching.</a:t>
            </a:r>
          </a:p>
          <a:p>
            <a:endParaRPr lang="en-IN" sz="2000" dirty="0" smtClean="0"/>
          </a:p>
          <a:p>
            <a:r>
              <a:rPr lang="en-IN" sz="2000" dirty="0" smtClean="0"/>
              <a:t>Existing systems are using manual reporting techniques to block fake articles.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4538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System: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6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System: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386" y="127000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We propose a system which uses big data analytics </a:t>
            </a:r>
            <a:r>
              <a:rPr lang="en-US" sz="2000" dirty="0" smtClean="0"/>
              <a:t>and machine learning on </a:t>
            </a:r>
            <a:r>
              <a:rPr lang="en-US" sz="2000" dirty="0"/>
              <a:t>fake news datasets to detect fake </a:t>
            </a:r>
            <a:r>
              <a:rPr lang="en-US" sz="2000" dirty="0" smtClean="0"/>
              <a:t>news.</a:t>
            </a:r>
          </a:p>
          <a:p>
            <a:r>
              <a:rPr lang="en-US" sz="2000" dirty="0" smtClean="0"/>
              <a:t>We use fake news open data sets  for analytics</a:t>
            </a:r>
          </a:p>
          <a:p>
            <a:r>
              <a:rPr lang="en-US" sz="2000" dirty="0" smtClean="0"/>
              <a:t>Keyword matching using Map reducing techniques</a:t>
            </a:r>
          </a:p>
          <a:p>
            <a:pPr marL="0" indent="0">
              <a:buNone/>
            </a:pPr>
            <a:r>
              <a:rPr lang="en-US" sz="2000" dirty="0" smtClean="0"/>
              <a:t>When Features of an article are matched with fake news datasets ,then this article is  analyzed and classified under fake category</a:t>
            </a:r>
          </a:p>
          <a:p>
            <a:pPr marL="0" indent="0">
              <a:buNone/>
            </a:pPr>
            <a:r>
              <a:rPr lang="en-US" sz="2000" dirty="0" smtClean="0"/>
              <a:t>Example:</a:t>
            </a:r>
          </a:p>
          <a:p>
            <a:r>
              <a:rPr lang="en-US" sz="2000" dirty="0" smtClean="0"/>
              <a:t>By Using text-matching algorithms </a:t>
            </a:r>
            <a:r>
              <a:rPr lang="en-US" sz="2000" dirty="0"/>
              <a:t>to link tweets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to verified </a:t>
            </a:r>
            <a:r>
              <a:rPr lang="en-US" sz="2000" dirty="0"/>
              <a:t>rumors </a:t>
            </a:r>
            <a:r>
              <a:rPr lang="en-US" sz="2000" dirty="0" smtClean="0"/>
              <a:t>in twitter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104" y="3648829"/>
            <a:ext cx="5051796" cy="276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5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Using the available datasets we calculate the probability of each word that contribute to the fake news.</a:t>
            </a:r>
          </a:p>
          <a:p>
            <a:r>
              <a:rPr lang="en-US" sz="2000" dirty="0" smtClean="0"/>
              <a:t>By using the big data analytics we update the score of each word we come across  while  analyzing</a:t>
            </a:r>
          </a:p>
          <a:p>
            <a:r>
              <a:rPr lang="en-US" sz="2000" dirty="0" smtClean="0"/>
              <a:t>We update the score by adding the  probability function value.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 simple probability function is as follows:</a:t>
            </a:r>
          </a:p>
          <a:p>
            <a:r>
              <a:rPr lang="en-US" sz="2000" dirty="0" smtClean="0"/>
              <a:t>Count=number of  occurrences of the word in the fake news</a:t>
            </a:r>
          </a:p>
          <a:p>
            <a:r>
              <a:rPr lang="en-US" sz="2000" dirty="0" smtClean="0"/>
              <a:t>Total=Total number of  occurrences of the word in the dataset.</a:t>
            </a:r>
          </a:p>
          <a:p>
            <a:r>
              <a:rPr lang="en-US" sz="2000" dirty="0" smtClean="0"/>
              <a:t>P(word)=Count/Total.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machine learning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probabilities in the first part are inputs this model as one of the features  in the feature vector.</a:t>
            </a:r>
          </a:p>
          <a:p>
            <a:r>
              <a:rPr lang="en-US" sz="2000" dirty="0" smtClean="0"/>
              <a:t>First, using our training dataset we build a model We can access this model using </a:t>
            </a:r>
            <a:r>
              <a:rPr lang="en-US" sz="2000" b="1" dirty="0" smtClean="0"/>
              <a:t>p(x)</a:t>
            </a:r>
            <a:endParaRPr lang="en-US" sz="2000" dirty="0" smtClean="0"/>
          </a:p>
          <a:p>
            <a:pPr lvl="1"/>
            <a:r>
              <a:rPr lang="en-US" sz="2000" dirty="0" smtClean="0"/>
              <a:t>This asks, "What is the probability that example x is normal" </a:t>
            </a:r>
          </a:p>
          <a:p>
            <a:r>
              <a:rPr lang="en-US" sz="2000" dirty="0" smtClean="0"/>
              <a:t>Having built a model if p(</a:t>
            </a:r>
            <a:r>
              <a:rPr lang="en-US" sz="2000" dirty="0" err="1" smtClean="0"/>
              <a:t>x</a:t>
            </a:r>
            <a:r>
              <a:rPr lang="en-US" sz="2000" baseline="-25000" dirty="0" err="1" smtClean="0"/>
              <a:t>test</a:t>
            </a:r>
            <a:r>
              <a:rPr lang="en-US" sz="2000" dirty="0" smtClean="0"/>
              <a:t>) &lt; ε --&gt; flag this as an anomaly</a:t>
            </a:r>
          </a:p>
          <a:p>
            <a:r>
              <a:rPr lang="en-US" sz="2000" dirty="0" smtClean="0"/>
              <a:t>if p(</a:t>
            </a:r>
            <a:r>
              <a:rPr lang="en-US" sz="2000" dirty="0" err="1" smtClean="0"/>
              <a:t>x</a:t>
            </a:r>
            <a:r>
              <a:rPr lang="en-US" sz="2000" baseline="-25000" dirty="0" err="1" smtClean="0"/>
              <a:t>test</a:t>
            </a:r>
            <a:r>
              <a:rPr lang="en-US" sz="2000" dirty="0" smtClean="0"/>
              <a:t>) &gt;= ε --&gt; this is OK</a:t>
            </a:r>
          </a:p>
          <a:p>
            <a:r>
              <a:rPr lang="en-US" sz="2000" dirty="0" smtClean="0"/>
              <a:t>ε is some threshold probability value which we define, depending on how sure we need/want to be.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example:</a:t>
            </a:r>
            <a:endParaRPr lang="en-US" dirty="0"/>
          </a:p>
        </p:txBody>
      </p:sp>
      <p:pic>
        <p:nvPicPr>
          <p:cNvPr id="4" name="Content Placeholder 3" descr="Imag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495" y="1702549"/>
            <a:ext cx="2636749" cy="2080440"/>
          </a:xfrm>
        </p:spPr>
      </p:pic>
      <p:pic>
        <p:nvPicPr>
          <p:cNvPr id="5" name="Picture 4" descr="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96" y="1296941"/>
            <a:ext cx="2850127" cy="2095682"/>
          </a:xfrm>
          <a:prstGeom prst="rect">
            <a:avLst/>
          </a:prstGeom>
        </p:spPr>
      </p:pic>
      <p:pic>
        <p:nvPicPr>
          <p:cNvPr id="6" name="Picture 5" descr="not 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803" y="4042320"/>
            <a:ext cx="3116850" cy="20651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21228" y="3567448"/>
            <a:ext cx="837127" cy="2155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X1(score)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509495" y="1702549"/>
            <a:ext cx="379147" cy="1040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 rot="16200000">
            <a:off x="47145" y="2073067"/>
            <a:ext cx="1339403" cy="227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X2(reviews)</a:t>
            </a:r>
            <a:endParaRPr lang="en-IN" sz="1200" dirty="0"/>
          </a:p>
        </p:txBody>
      </p:sp>
      <p:sp>
        <p:nvSpPr>
          <p:cNvPr id="11" name="Rectangle 10"/>
          <p:cNvSpPr/>
          <p:nvPr/>
        </p:nvSpPr>
        <p:spPr>
          <a:xfrm>
            <a:off x="7964096" y="3177082"/>
            <a:ext cx="837127" cy="2155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X1(score)</a:t>
            </a:r>
            <a:endParaRPr lang="en-IN" sz="1200" dirty="0"/>
          </a:p>
        </p:txBody>
      </p:sp>
      <p:sp>
        <p:nvSpPr>
          <p:cNvPr id="12" name="Rectangle 11"/>
          <p:cNvSpPr/>
          <p:nvPr/>
        </p:nvSpPr>
        <p:spPr>
          <a:xfrm>
            <a:off x="5664558" y="5891978"/>
            <a:ext cx="837127" cy="2155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X1(score)</a:t>
            </a:r>
            <a:endParaRPr lang="en-IN" sz="1200" dirty="0"/>
          </a:p>
        </p:txBody>
      </p:sp>
      <p:sp>
        <p:nvSpPr>
          <p:cNvPr id="14" name="Rectangle 13"/>
          <p:cNvSpPr/>
          <p:nvPr/>
        </p:nvSpPr>
        <p:spPr>
          <a:xfrm rot="16200000">
            <a:off x="5492702" y="1796470"/>
            <a:ext cx="1339403" cy="227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X2(reviews)</a:t>
            </a:r>
            <a:endParaRPr lang="en-IN" sz="1200" dirty="0"/>
          </a:p>
        </p:txBody>
      </p:sp>
      <p:sp>
        <p:nvSpPr>
          <p:cNvPr id="15" name="Rectangle 14"/>
          <p:cNvSpPr/>
          <p:nvPr/>
        </p:nvSpPr>
        <p:spPr>
          <a:xfrm rot="16200000">
            <a:off x="3198027" y="4453512"/>
            <a:ext cx="1339403" cy="227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X2(reviews)</a:t>
            </a:r>
            <a:endParaRPr lang="en-IN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63006"/>
            <a:ext cx="8596668" cy="1320800"/>
          </a:xfrm>
        </p:spPr>
        <p:txBody>
          <a:bodyPr/>
          <a:lstStyle/>
          <a:p>
            <a:r>
              <a:rPr lang="en-US" dirty="0" smtClean="0"/>
              <a:t>Flow Chart 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956" y="1123406"/>
            <a:ext cx="4205097" cy="4887663"/>
          </a:xfrm>
        </p:spPr>
      </p:pic>
    </p:spTree>
    <p:extLst>
      <p:ext uri="{BB962C8B-B14F-4D97-AF65-F5344CB8AC3E}">
        <p14:creationId xmlns:p14="http://schemas.microsoft.com/office/powerpoint/2010/main" val="231466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71226"/>
            <a:ext cx="7706889" cy="4330960"/>
          </a:xfrm>
        </p:spPr>
      </p:pic>
    </p:spTree>
    <p:extLst>
      <p:ext uri="{BB962C8B-B14F-4D97-AF65-F5344CB8AC3E}">
        <p14:creationId xmlns:p14="http://schemas.microsoft.com/office/powerpoint/2010/main" val="4920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8592"/>
          </a:xfrm>
        </p:spPr>
        <p:txBody>
          <a:bodyPr/>
          <a:lstStyle/>
          <a:p>
            <a:r>
              <a:rPr lang="en-IN" dirty="0" smtClean="0"/>
              <a:t>Web page with Fake news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1707036"/>
            <a:ext cx="8596668" cy="4945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77334" y="1674254"/>
            <a:ext cx="8596668" cy="6439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Real (Fake) News Article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030310" y="2833352"/>
            <a:ext cx="6336405" cy="34901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Article Body 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7637172" y="2871989"/>
            <a:ext cx="1352282" cy="1867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53082" y="5048518"/>
            <a:ext cx="1236372" cy="1455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421228" y="4932607"/>
            <a:ext cx="3515933" cy="127500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Alert ! This is fake news.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6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Intel core i3 processor/higher end 64 bit processor</a:t>
            </a:r>
          </a:p>
          <a:p>
            <a:endParaRPr lang="en-US" dirty="0" smtClean="0"/>
          </a:p>
          <a:p>
            <a:r>
              <a:rPr lang="en-US" dirty="0"/>
              <a:t>8</a:t>
            </a:r>
            <a:r>
              <a:rPr lang="en-US" dirty="0" smtClean="0"/>
              <a:t> GB or More RAM</a:t>
            </a:r>
          </a:p>
          <a:p>
            <a:endParaRPr lang="en-US" dirty="0" smtClean="0"/>
          </a:p>
          <a:p>
            <a:r>
              <a:rPr lang="en-US" dirty="0" smtClean="0"/>
              <a:t>10 GB of hard disk space</a:t>
            </a:r>
          </a:p>
          <a:p>
            <a:endParaRPr lang="en-US" dirty="0"/>
          </a:p>
          <a:p>
            <a:r>
              <a:rPr lang="en-US" dirty="0" err="1" smtClean="0"/>
              <a:t>Cloudera</a:t>
            </a:r>
            <a:r>
              <a:rPr lang="en-US" dirty="0" smtClean="0"/>
              <a:t>, </a:t>
            </a:r>
            <a:r>
              <a:rPr lang="en-US" dirty="0" err="1" smtClean="0"/>
              <a:t>Hortonworks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Cloud infrastructure as per requirements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00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Hadoop</a:t>
            </a:r>
            <a:r>
              <a:rPr lang="en-US" dirty="0" smtClean="0"/>
              <a:t> Stack </a:t>
            </a:r>
          </a:p>
          <a:p>
            <a:r>
              <a:rPr lang="en-US" dirty="0" smtClean="0"/>
              <a:t>Linux </a:t>
            </a:r>
            <a:r>
              <a:rPr lang="en-US" dirty="0" smtClean="0"/>
              <a:t>Operating System</a:t>
            </a:r>
          </a:p>
          <a:p>
            <a:r>
              <a:rPr lang="en-US" dirty="0" smtClean="0"/>
              <a:t>JDK 1.6 or higher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Fake news affecting society and our individual’s perception.</a:t>
            </a:r>
          </a:p>
          <a:p>
            <a:endParaRPr lang="en-IN" dirty="0" smtClean="0"/>
          </a:p>
          <a:p>
            <a:r>
              <a:rPr lang="en-IN" dirty="0" smtClean="0"/>
              <a:t>Our proposed system could eradicate the fake news problem to the maximum extent, with the big data and analytics.</a:t>
            </a:r>
          </a:p>
          <a:p>
            <a:endParaRPr lang="en-IN" dirty="0" smtClean="0"/>
          </a:p>
          <a:p>
            <a:r>
              <a:rPr lang="en-IN" dirty="0" smtClean="0"/>
              <a:t>This will not only improve our understanding of the world.</a:t>
            </a:r>
          </a:p>
          <a:p>
            <a:endParaRPr lang="en-IN" smtClean="0"/>
          </a:p>
          <a:p>
            <a:r>
              <a:rPr lang="en-IN" smtClean="0"/>
              <a:t> </a:t>
            </a:r>
            <a:r>
              <a:rPr lang="en-IN" dirty="0"/>
              <a:t>A</a:t>
            </a:r>
            <a:r>
              <a:rPr lang="en-IN" dirty="0" smtClean="0"/>
              <a:t>lso minimise the polarisation in society</a:t>
            </a:r>
          </a:p>
        </p:txBody>
      </p:sp>
    </p:spTree>
    <p:extLst>
      <p:ext uri="{BB962C8B-B14F-4D97-AF65-F5344CB8AC3E}">
        <p14:creationId xmlns:p14="http://schemas.microsoft.com/office/powerpoint/2010/main" val="108861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Sadia </a:t>
            </a:r>
            <a:r>
              <a:rPr lang="en-US" dirty="0" err="1"/>
              <a:t>Afroz</a:t>
            </a:r>
            <a:r>
              <a:rPr lang="en-US" dirty="0"/>
              <a:t>, Michael Brennan, and Rachel </a:t>
            </a:r>
            <a:r>
              <a:rPr lang="en-US" dirty="0" err="1" smtClean="0"/>
              <a:t>Greenstadt</a:t>
            </a:r>
            <a:r>
              <a:rPr lang="en-US" dirty="0" smtClean="0"/>
              <a:t> Detecting </a:t>
            </a:r>
            <a:r>
              <a:rPr lang="en-US" dirty="0"/>
              <a:t>hoaxes, frauds, and deception in </a:t>
            </a:r>
            <a:r>
              <a:rPr lang="en-US" dirty="0" smtClean="0"/>
              <a:t>writing style </a:t>
            </a:r>
            <a:r>
              <a:rPr lang="en-US" dirty="0"/>
              <a:t>online. In ISSP'12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Jonas </a:t>
            </a:r>
            <a:r>
              <a:rPr lang="en-US" dirty="0" err="1"/>
              <a:t>Nygaard</a:t>
            </a:r>
            <a:r>
              <a:rPr lang="en-US" dirty="0"/>
              <a:t> </a:t>
            </a:r>
            <a:r>
              <a:rPr lang="en-US" dirty="0" err="1"/>
              <a:t>Blom</a:t>
            </a:r>
            <a:r>
              <a:rPr lang="en-US" dirty="0"/>
              <a:t> and Kenneth </a:t>
            </a:r>
            <a:r>
              <a:rPr lang="en-US" dirty="0" err="1"/>
              <a:t>Reinecke</a:t>
            </a:r>
            <a:r>
              <a:rPr lang="en-US" dirty="0"/>
              <a:t> </a:t>
            </a:r>
            <a:r>
              <a:rPr lang="en-US" dirty="0" smtClean="0"/>
              <a:t>Hansen. Click </a:t>
            </a:r>
            <a:r>
              <a:rPr lang="en-US" dirty="0"/>
              <a:t>bait: Forward-reference as lure in online </a:t>
            </a:r>
            <a:r>
              <a:rPr lang="en-US" dirty="0" smtClean="0"/>
              <a:t>news headlines</a:t>
            </a:r>
            <a:r>
              <a:rPr lang="en-US" dirty="0"/>
              <a:t>. Journal of Pragmatics, 76:87{100, 2015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Research.facebook.com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2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72832" y="1773404"/>
            <a:ext cx="8596668" cy="1826581"/>
          </a:xfrm>
        </p:spPr>
        <p:txBody>
          <a:bodyPr/>
          <a:lstStyle/>
          <a:p>
            <a:pPr algn="ctr"/>
            <a:r>
              <a:rPr lang="en-US" dirty="0" smtClean="0"/>
              <a:t> 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7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306</TotalTime>
  <Words>632</Words>
  <Application>Microsoft Office PowerPoint</Application>
  <PresentationFormat>Widescreen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Trebuchet MS</vt:lpstr>
      <vt:lpstr>Wingdings</vt:lpstr>
      <vt:lpstr>Wingdings 3</vt:lpstr>
      <vt:lpstr>Facet</vt:lpstr>
      <vt:lpstr>Fake News Detection  </vt:lpstr>
      <vt:lpstr>Contents</vt:lpstr>
      <vt:lpstr>Abstract: </vt:lpstr>
      <vt:lpstr>Problem Definition :</vt:lpstr>
      <vt:lpstr>Example:</vt:lpstr>
      <vt:lpstr>Existing System:</vt:lpstr>
      <vt:lpstr>Proposed System: </vt:lpstr>
      <vt:lpstr>Proposed System:</vt:lpstr>
      <vt:lpstr>Big data part</vt:lpstr>
      <vt:lpstr>The machine learning part</vt:lpstr>
      <vt:lpstr>For example:</vt:lpstr>
      <vt:lpstr>Flow Chart :</vt:lpstr>
      <vt:lpstr>Class Diagram</vt:lpstr>
      <vt:lpstr>Web page with Fake news</vt:lpstr>
      <vt:lpstr>Hardware Requirements</vt:lpstr>
      <vt:lpstr>Software Requirements</vt:lpstr>
      <vt:lpstr>Conclusion </vt:lpstr>
      <vt:lpstr>References:</vt:lpstr>
      <vt:lpstr>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</dc:title>
  <dc:creator>Windows User</dc:creator>
  <cp:lastModifiedBy>IRFAN</cp:lastModifiedBy>
  <cp:revision>47</cp:revision>
  <dcterms:created xsi:type="dcterms:W3CDTF">2017-11-13T15:54:36Z</dcterms:created>
  <dcterms:modified xsi:type="dcterms:W3CDTF">2017-11-14T04:18:19Z</dcterms:modified>
</cp:coreProperties>
</file>